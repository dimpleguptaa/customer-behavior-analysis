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oto Serif Medium"/>
      <p:regular r:id="rId17"/>
    </p:embeddedFont>
    <p:embeddedFont>
      <p:font typeface="Noto Serif"/>
      <p:regular r:id="rId18"/>
    </p:embeddedFont>
    <p:embeddedFont>
      <p:font typeface="Noto Serif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913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Customer Shopping Behaviour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993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End-to-end pipeline: Python → PostgreSQL → Power BI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80978"/>
            <a:ext cx="1341462" cy="266402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23468"/>
            <a:ext cx="162855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3,900 TRANSACTIONS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337423" y="3176215"/>
            <a:ext cx="89579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9C928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7241" y="3223468"/>
            <a:ext cx="117336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18 COLUMNS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304062" y="3176215"/>
            <a:ext cx="153784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9C928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93879" y="3223468"/>
            <a:ext cx="181540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DATA-DRIVEN STRATEGY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23701"/>
            <a:ext cx="32260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at a Glance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98178"/>
            <a:ext cx="2475235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3,900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296293" y="138395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34271" y="898178"/>
            <a:ext cx="247530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18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3879726" y="138395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Columns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17704" y="898178"/>
            <a:ext cx="2475309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37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463159" y="138395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Null Values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17704" y="1608832"/>
            <a:ext cx="2475309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 Rating only</a:t>
            </a:r>
            <a:endParaRPr lang="en-US" sz="8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1961257"/>
            <a:ext cx="4872782" cy="2761208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4292" y="2096691"/>
            <a:ext cx="2513409" cy="6672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66458" y="222170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066458" y="2481188"/>
            <a:ext cx="2206228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Age, Gender, Location, Subscription</a:t>
            </a:r>
            <a:endParaRPr lang="en-US" sz="8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4292" y="2850431"/>
            <a:ext cx="2513409" cy="8250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66458" y="297544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Purchase Details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066458" y="3234928"/>
            <a:ext cx="220622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Item, Category, Amount, Season, Size, Color</a:t>
            </a:r>
            <a:endParaRPr lang="en-US" sz="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84292" y="3761929"/>
            <a:ext cx="2513409" cy="82502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66458" y="3886944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Behaviour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066458" y="4146426"/>
            <a:ext cx="220622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Discount, Promo, Frequency, Rating, Shipping, Payment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90004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Python EDA Pipeline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660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170087"/>
            <a:ext cx="4815780" cy="1428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6" name="Text 3"/>
          <p:cNvSpPr/>
          <p:nvPr/>
        </p:nvSpPr>
        <p:spPr>
          <a:xfrm>
            <a:off x="449610" y="12628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Load &amp; Inspect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10" y="1533376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CSV → pandas, df.info(), df.describe()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10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9610" y="2146027"/>
            <a:ext cx="4815780" cy="1428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" name="Text 7"/>
          <p:cNvSpPr/>
          <p:nvPr/>
        </p:nvSpPr>
        <p:spPr>
          <a:xfrm>
            <a:off x="449610" y="22388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Impute Missing Data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9610" y="250931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37 nulls → median per category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9610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610" y="3121968"/>
            <a:ext cx="4815780" cy="1428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4" name="Text 11"/>
          <p:cNvSpPr/>
          <p:nvPr/>
        </p:nvSpPr>
        <p:spPr>
          <a:xfrm>
            <a:off x="449610" y="3214762"/>
            <a:ext cx="183765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Standardise &amp; Engineer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610" y="348525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snake_case, age_group bins, frequency mapping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610" y="389386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9610" y="4097908"/>
            <a:ext cx="4815780" cy="14288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8" name="Text 15"/>
          <p:cNvSpPr/>
          <p:nvPr/>
        </p:nvSpPr>
        <p:spPr>
          <a:xfrm>
            <a:off x="449610" y="4190702"/>
            <a:ext cx="165660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Consistency &amp; Export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610" y="446119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Dropped redundant promo_code_used, loaded to PostgreSQL via SQLAlchemy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80181"/>
            <a:ext cx="6637139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Analysis — Revenue &amp; Discounts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40" y="1412304"/>
            <a:ext cx="5201469" cy="294746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1884" y="1158478"/>
            <a:ext cx="2646164" cy="847948"/>
          </a:xfrm>
          <a:prstGeom prst="roundRect">
            <a:avLst>
              <a:gd name="adj" fmla="val 6802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163940" y="1300535"/>
            <a:ext cx="19833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Q1 · Revenue by Gender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63940" y="1648048"/>
            <a:ext cx="236205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Male vs. female spending volume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021884" y="2139404"/>
            <a:ext cx="2646164" cy="1062484"/>
          </a:xfrm>
          <a:prstGeom prst="roundRect">
            <a:avLst>
              <a:gd name="adj" fmla="val 5429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63940" y="2281461"/>
            <a:ext cx="2362051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Q2 · High-Spending Discount Users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63940" y="2843510"/>
            <a:ext cx="2362051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Discounts attract high-value buyers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21884" y="3334866"/>
            <a:ext cx="2646164" cy="1278806"/>
          </a:xfrm>
          <a:prstGeom prst="roundRect">
            <a:avLst>
              <a:gd name="adj" fmla="val 4511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63940" y="3476923"/>
            <a:ext cx="2362051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Q6 · Discount-Dependent Products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63940" y="4038972"/>
            <a:ext cx="236205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Hat, Sneakers, Coat ~50% discount rate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493"/>
            <a:ext cx="64650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Analysis — Products &amp; Ratings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79550"/>
            <a:ext cx="2628230" cy="1133103"/>
          </a:xfrm>
          <a:prstGeom prst="roundRect">
            <a:avLst>
              <a:gd name="adj" fmla="val 5255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7780" dir="2700000">
              <a:srgbClr val="e6ded2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6927" y="1440359"/>
            <a:ext cx="230661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Q3 · Top 5 by Review Rating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025030"/>
            <a:ext cx="2306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Gloves, Sandals, Boots lead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554412"/>
            <a:ext cx="2628230" cy="911647"/>
          </a:xfrm>
          <a:prstGeom prst="roundRect">
            <a:avLst>
              <a:gd name="adj" fmla="val 6531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7780" dir="2700000">
              <a:srgbClr val="e6ded2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6927" y="2715220"/>
            <a:ext cx="19870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Q4 · Shipping vs. Spend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3078435"/>
            <a:ext cx="2306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Express buyers spend more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607817"/>
            <a:ext cx="2628230" cy="911647"/>
          </a:xfrm>
          <a:prstGeom prst="roundRect">
            <a:avLst>
              <a:gd name="adj" fmla="val 6531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0" dist="17780" dir="2700000">
              <a:srgbClr val="e6ded2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927" y="3768626"/>
            <a:ext cx="19795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Q8 · Top 3 per Category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6927" y="4131841"/>
            <a:ext cx="23066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RANK() window function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0112"/>
            <a:ext cx="777969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Analysis — Segments &amp; Demographics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96616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91792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Q5 · Subscribers vs. Non-Subscribers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19760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Avg spend &amp; total revenue by subscription status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096616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791792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Q7 · Customer Segmentation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31976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New · Returning · Loyal — by purchase history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096616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791792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Q9 · Repeat Buyers &amp; Subscriptions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31976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5+ purchases → subscription likelihood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096616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791792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Q10 · Revenue by Age Group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319760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Young Adults lead at $62,143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3606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691655"/>
            <a:ext cx="4722763" cy="2029420"/>
          </a:xfrm>
          <a:prstGeom prst="roundRect">
            <a:avLst>
              <a:gd name="adj" fmla="val 2934"/>
            </a:avLst>
          </a:prstGeom>
          <a:solidFill>
            <a:srgbClr val="F2EDE5"/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7780" dir="2700000">
              <a:srgbClr val="ccc4b8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929881" y="1696417"/>
            <a:ext cx="4713238" cy="504974"/>
          </a:xfrm>
          <a:prstGeom prst="roundRect">
            <a:avLst>
              <a:gd name="adj" fmla="val 11791"/>
            </a:avLst>
          </a:prstGeom>
          <a:solidFill>
            <a:srgbClr val="F2EDE5"/>
          </a:solidFill>
          <a:ln/>
        </p:spPr>
      </p:sp>
      <p:sp>
        <p:nvSpPr>
          <p:cNvPr id="6" name="Text 3"/>
          <p:cNvSpPr/>
          <p:nvPr/>
        </p:nvSpPr>
        <p:spPr>
          <a:xfrm>
            <a:off x="4071640" y="18381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929881" y="2201391"/>
            <a:ext cx="4713238" cy="504974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8" name="Shape 5"/>
          <p:cNvSpPr/>
          <p:nvPr/>
        </p:nvSpPr>
        <p:spPr>
          <a:xfrm>
            <a:off x="3929881" y="2201391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9" name="Text 6"/>
          <p:cNvSpPr/>
          <p:nvPr/>
        </p:nvSpPr>
        <p:spPr>
          <a:xfrm>
            <a:off x="4071640" y="23431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$59.76 Avg Purchase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929881" y="2706365"/>
            <a:ext cx="4713238" cy="504974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11" name="Shape 8"/>
          <p:cNvSpPr/>
          <p:nvPr/>
        </p:nvSpPr>
        <p:spPr>
          <a:xfrm>
            <a:off x="3929881" y="2706365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12" name="Text 9"/>
          <p:cNvSpPr/>
          <p:nvPr/>
        </p:nvSpPr>
        <p:spPr>
          <a:xfrm>
            <a:off x="4071640" y="28481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3.75 Avg Rating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929881" y="3211339"/>
            <a:ext cx="4713238" cy="504974"/>
          </a:xfrm>
          <a:prstGeom prst="rect">
            <a:avLst/>
          </a:prstGeom>
          <a:solidFill>
            <a:srgbClr val="F2EDE5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9881" y="3211339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CC4B8"/>
          </a:solidFill>
          <a:ln/>
        </p:spPr>
      </p:sp>
      <p:sp>
        <p:nvSpPr>
          <p:cNvPr id="15" name="Text 12"/>
          <p:cNvSpPr/>
          <p:nvPr/>
        </p:nvSpPr>
        <p:spPr>
          <a:xfrm>
            <a:off x="4071640" y="33530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27% Subscribed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925119" y="388054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Dynamic filters: Subscription · Gender · Category · Shipping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Findings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4503" y="2242840"/>
            <a:ext cx="193774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the data tells 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14503" y="2509317"/>
            <a:ext cx="3759622" cy="9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Subscription conversion is the biggest untapped opportunity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Young Adults drive volume, not necessarily avg spend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Express shipping signals willingness to pay for convenience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Discount dependency on select products risks margins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Loyal base is strong — focus on converting Returning (701)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5682"/>
            <a:ext cx="4409256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Business Recommendations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643" y="896987"/>
            <a:ext cx="8100640" cy="704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0293" y="1139130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02668" y="102862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02668" y="1270322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Exclusive benefits, early access, loyalty points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643" y="1698575"/>
            <a:ext cx="8100640" cy="7044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0293" y="194071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02668" y="1830214"/>
            <a:ext cx="147287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Loyalty Programmes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02668" y="2071911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Target 701 Returning → Loyal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643" y="2500164"/>
            <a:ext cx="8100640" cy="7044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0293" y="274230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02668" y="2631802"/>
            <a:ext cx="1651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102668" y="2873499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Tiered or time-limited for Hat, Sneakers, Coat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1643" y="3301752"/>
            <a:ext cx="8100640" cy="7044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293" y="3543895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02668" y="3433390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Positioning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102668" y="3675087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Feature Gloves, Sandals, Boots in campaigns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643" y="4103340"/>
            <a:ext cx="8100640" cy="7044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0293" y="4345484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102668" y="4234979"/>
            <a:ext cx="178400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Target by Age &amp; Shipping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102668" y="4476676"/>
            <a:ext cx="738797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Young Adults + Express premium bundles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6941"/>
            <a:ext cx="300454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 Summary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745" y="751731"/>
            <a:ext cx="6272361" cy="34274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2879" y="2357689"/>
            <a:ext cx="1453343" cy="19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Python Cleanup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32818" y="2236522"/>
            <a:ext cx="1453343" cy="395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PostgreSQL Analysis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40032" y="2243662"/>
            <a:ext cx="1453343" cy="39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05" y="4261545"/>
            <a:ext cx="74879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raw CSV to actionable strategy — a complete analytics workflow.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056605" y="4483968"/>
            <a:ext cx="2294706" cy="372517"/>
          </a:xfrm>
          <a:prstGeom prst="roundRect">
            <a:avLst>
              <a:gd name="adj" fmla="val 11488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2700" dir="2700000">
              <a:srgbClr val="ccc4b8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63241" y="4590604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3,900 Transactions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4535" y="4483968"/>
            <a:ext cx="2294781" cy="372517"/>
          </a:xfrm>
          <a:prstGeom prst="roundRect">
            <a:avLst>
              <a:gd name="adj" fmla="val 11488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2700" dir="270000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31171" y="4590604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10 SQL Queries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92539" y="4483968"/>
            <a:ext cx="2294781" cy="372517"/>
          </a:xfrm>
          <a:prstGeom prst="roundRect">
            <a:avLst>
              <a:gd name="adj" fmla="val 11488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sx="100000" sy="100000" kx="0" ky="0" algn="bl" rotWithShape="0" blurRad="0" dist="12700" dir="2700000">
              <a:srgbClr val="ccc4b8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9175" y="4590604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 Recommendations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2026-06-07T13:54:44Z</dcterms:created>
  <dcterms:modified xsi:type="dcterms:W3CDTF">2026-06-07T13:54:44Z</dcterms:modified>
</cp:coreProperties>
</file>